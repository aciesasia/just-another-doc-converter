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3708b3b-a0c3-e508-4c02-cdbadaec4de5}">
          <p14:sldIdLst>
            <p14:sldId id="256"/>
          </p14:sldIdLst>
        </p14:section>
        <p14:section name="The Problem" id="{f0da8652-2c59-183d-41c5-c1f8fabb2981}">
          <p14:sldIdLst>
            <p14:sldId id="257"/>
          </p14:sldIdLst>
        </p14:section>
        <p14:section name="Current State" id="{b27f430a-9ddb-7a3a-a3b7-1bade863acfd}">
          <p14:sldIdLst>
            <p14:sldId id="258"/>
            <p14:sldId id="259"/>
          </p14:sldIdLst>
        </p14:section>
        <p14:section name="The Solution" id="{5c4bcc97-fb1d-b185-00bc-b7697ba41520}">
          <p14:sldIdLst>
            <p14:sldId id="260"/>
            <p14:sldId id="261"/>
          </p14:sldIdLst>
        </p14:section>
        <p14:section name="Competitive Position" id="{06021ac8-da23-57e2-7a51-465f2b04d969}">
          <p14:sldIdLst>
            <p14:sldId id="262"/>
          </p14:sldIdLst>
        </p14:section>
        <p14:section name="Engagement" id="{473cc18f-7bf1-8aa0-b6da-f6d5af518e41}">
          <p14:sldIdLst>
            <p14:sldId id="263"/>
            <p14:sldId id="264"/>
            <p14:sldId id="265"/>
          </p14:sldIdLst>
        </p14:section>
        <p14:section name="Next Steps" id="{14b9e5ee-3ff7-4eba-121f-80fdb43916bd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0"/>
            <a:ext cx="2743200" cy="50292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NZB CONSULTING · CONFIDENTIAL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 Franco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RDIP Engagement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Data Intelligence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4114800" cy="27432"/>
          </a:xfrm>
          <a:prstGeom prst="rect">
            <a:avLst/>
          </a:prstGeom>
          <a:solidFill>
            <a:srgbClr val="A0A4B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October 2026  ·  Prepared by NZB Consulting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CF0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43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Laveena consolidates her restaurant data manually — once a month — with no daily or bi-weekly visibility into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2918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  <a:effectLst>
            <a:outerShdw sx="100000" sy="100000" kx="0" ky="0" algn="bl" rotWithShape="0" blurRad="101600" dist="25400" dir="16200000">
              <a:srgbClr val="CCCCCC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375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Data Dump takes the FOM hours each month to populate across nine tabs — manually.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2011680"/>
            <a:ext cx="32918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  <a:effectLst>
            <a:outerShdw sx="100000" sy="100000" kx="0" ky="0" algn="bl" rotWithShape="0" blurRad="101600" dist="25400" dir="16200000">
              <a:srgbClr val="CCCCCC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51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Daily View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33375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daily or bi-weekly visibility into sales, costs, or inventory. Decisions lag the data by weeks.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011680"/>
            <a:ext cx="32918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  <a:effectLst>
            <a:outerShdw sx="100000" sy="100000" kx="0" ky="0" algn="bl" rotWithShape="0" blurRad="101600" dist="25400" dir="16200000">
              <a:srgbClr val="CCCCCC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818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33375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payroll software, recipe template, and five Process Leader reports operate in isolation. Nothing is connected.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CF0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TAQ Franco Currently Has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operational tools — none connected to each other.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257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54864" cy="1828800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" y="198424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3500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624328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 the Sales tab (Maya service fee and Maya WHT visible). Covers payment transactions only. Not a restaurant management platform.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1874520"/>
            <a:ext cx="5257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874520"/>
            <a:ext cx="54864" cy="1828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81928" y="198424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23500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— Priority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2624328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Z-report data in the Sales tab. System name is unknown. Identifying it is the first priority at the due diligence meeting.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5257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977640"/>
            <a:ext cx="54864" cy="1828800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" y="40873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Software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" y="44531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System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" y="4727448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Confirmed. The HR Staffer extracts payroll reports and re-enters data manually into the Monthly Data Dump Payroll tab.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3977640"/>
            <a:ext cx="5257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3977640"/>
            <a:ext cx="54864" cy="1828800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81928" y="40873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Template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81928" y="44531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81928" y="4727448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Confirmed. The FOM uses it to populate food cost data in the Menu Mix tabs. Not connected to any other system.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Consolidation Gap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of 9 Monthly Data Dump tabs comes from the POS. The other 8 require manual entry from sources no SaaS platform reaches.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377440" cy="1645920"/>
          </a:xfrm>
          <a:prstGeom prst="rect">
            <a:avLst/>
          </a:prstGeom>
          <a:solidFill>
            <a:srgbClr val="4970FF"/>
          </a:solidFill>
          <a:ln w="12700">
            <a:solidFill>
              <a:srgbClr val="497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240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546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9 tabs — manual entry only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2377440" cy="1463040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4114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892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sourced from POS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457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Data Dump — Data Sources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1005840"/>
            <a:ext cx="5212080" cy="502920"/>
          </a:xfrm>
          <a:prstGeom prst="rect">
            <a:avLst/>
          </a:prstGeom>
          <a:solidFill>
            <a:srgbClr val="00C4B6"/>
          </a:solidFill>
          <a:ln w="12700">
            <a:solidFill>
              <a:srgbClr val="00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042416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1042416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(Z-report)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581912"/>
            <a:ext cx="5212080" cy="502920"/>
          </a:xfrm>
          <a:prstGeom prst="rect">
            <a:avLst/>
          </a:prstGeom>
          <a:solidFill>
            <a:srgbClr val="161824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61848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161848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Staffer — manual from payroll software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157984"/>
            <a:ext cx="5212080" cy="502920"/>
          </a:xfrm>
          <a:prstGeom prst="rect">
            <a:avLst/>
          </a:prstGeom>
          <a:solidFill>
            <a:srgbClr val="161824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19456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Mix FOH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194560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 — manual from recipe template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734056"/>
            <a:ext cx="5212080" cy="502920"/>
          </a:xfrm>
          <a:prstGeom prst="rect">
            <a:avLst/>
          </a:prstGeom>
          <a:solidFill>
            <a:srgbClr val="161824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277063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Mix BOH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770632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 — manual from recipe template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310128"/>
            <a:ext cx="5212080" cy="502920"/>
          </a:xfrm>
          <a:prstGeom prst="rect">
            <a:avLst/>
          </a:prstGeom>
          <a:solidFill>
            <a:srgbClr val="161824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34670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FOH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3346704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Leader — manual count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3886200"/>
            <a:ext cx="5212080" cy="502920"/>
          </a:xfrm>
          <a:prstGeom prst="rect">
            <a:avLst/>
          </a:prstGeom>
          <a:solidFill>
            <a:srgbClr val="161824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3922776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BOH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3922776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Leader — manual count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462272"/>
            <a:ext cx="5212080" cy="502920"/>
          </a:xfrm>
          <a:prstGeom prst="rect">
            <a:avLst/>
          </a:prstGeom>
          <a:solidFill>
            <a:srgbClr val="161824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449884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FOH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49884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Leader — manual report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5038344"/>
            <a:ext cx="5212080" cy="502920"/>
          </a:xfrm>
          <a:prstGeom prst="rect">
            <a:avLst/>
          </a:prstGeom>
          <a:solidFill>
            <a:srgbClr val="161824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507492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BOH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366760" y="5074920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Leader — manual report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5614416"/>
            <a:ext cx="5212080" cy="502920"/>
          </a:xfrm>
          <a:prstGeom prst="rect">
            <a:avLst/>
          </a:prstGeom>
          <a:solidFill>
            <a:srgbClr val="161824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0" y="565099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5650992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consolidation by Laveena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CF0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NZB RDIP Delivers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430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intelligence layer that sits above all operational tools — consolidating all nine data sources into one owned, permanent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257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29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View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Module 1. Automated daily sales visibility without waiting for the monthly consolidation cycle.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920240"/>
            <a:ext cx="5257800" cy="1828800"/>
          </a:xfrm>
          <a:prstGeom prst="rect">
            <a:avLst/>
          </a:prstGeom>
          <a:solidFill>
            <a:srgbClr val="F0F2FA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029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 Intelligence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606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Module 2. Inventory-to-sales correlation, COGS, menu engineering, and beverage cost analysis.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5257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1330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1605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Consolidation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7091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data sources — POS, payroll, recipe costs, and all five Process Leader reports — in one system.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4023360"/>
            <a:ext cx="5257800" cy="1828800"/>
          </a:xfrm>
          <a:prstGeom prst="rect">
            <a:avLst/>
          </a:prstGeom>
          <a:solidFill>
            <a:srgbClr val="F0F2FA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41330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1605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It Permanently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47091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close, Laveena owns the system outright. No subscription. No NZB dependency. Her team runs it independently.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a SaaS Platform?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43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platforms manage transactions within their own system. They cannot consolidate sources outside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303520" cy="457200"/>
          </a:xfrm>
          <a:prstGeom prst="rect">
            <a:avLst/>
          </a:prstGeom>
          <a:solidFill>
            <a:srgbClr val="161824"/>
          </a:solidFill>
          <a:ln/>
        </p:spPr>
      </p:sp>
      <p:sp>
        <p:nvSpPr>
          <p:cNvPr id="6" name="Shape 4"/>
          <p:cNvSpPr/>
          <p:nvPr/>
        </p:nvSpPr>
        <p:spPr>
          <a:xfrm>
            <a:off x="6080760" y="1828800"/>
            <a:ext cx="5669280" cy="45720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(Mosaic, StoreHub)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828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NZB RDIP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303520" cy="749808"/>
          </a:xfrm>
          <a:prstGeom prst="rect">
            <a:avLst/>
          </a:prstGeom>
          <a:solidFill>
            <a:srgbClr val="13151F"/>
          </a:solidFill>
          <a:ln/>
        </p:spPr>
      </p:sp>
      <p:sp>
        <p:nvSpPr>
          <p:cNvPr id="10" name="Shape 8"/>
          <p:cNvSpPr/>
          <p:nvPr/>
        </p:nvSpPr>
        <p:spPr>
          <a:xfrm>
            <a:off x="6080760" y="2286000"/>
            <a:ext cx="5669280" cy="749808"/>
          </a:xfrm>
          <a:prstGeom prst="rect">
            <a:avLst/>
          </a:prstGeom>
          <a:solidFill>
            <a:srgbClr val="13151F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0" y="2286000"/>
            <a:ext cx="274320" cy="749808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3317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transactions within its platform only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3317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ALL 9 data sources across all tools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5303520" cy="749808"/>
          </a:xfrm>
          <a:prstGeom prst="rect">
            <a:avLst/>
          </a:prstGeom>
          <a:solidFill>
            <a:srgbClr val="161824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0760" y="3090672"/>
            <a:ext cx="5669280" cy="749808"/>
          </a:xfrm>
          <a:prstGeom prst="rect">
            <a:avLst/>
          </a:prstGeom>
          <a:solidFill>
            <a:srgbClr val="161824"/>
          </a:solidFill>
          <a:ln/>
        </p:spPr>
      </p:sp>
      <p:sp>
        <p:nvSpPr>
          <p:cNvPr id="16" name="Shape 14"/>
          <p:cNvSpPr/>
          <p:nvPr/>
        </p:nvSpPr>
        <p:spPr>
          <a:xfrm>
            <a:off x="5806440" y="3090672"/>
            <a:ext cx="274320" cy="749808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13639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payroll software integration without custom connector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13639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recipe costs, and PL reports unified in one 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895344"/>
            <a:ext cx="5303520" cy="749808"/>
          </a:xfrm>
          <a:prstGeom prst="rect">
            <a:avLst/>
          </a:prstGeom>
          <a:solidFill>
            <a:srgbClr val="13151F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0760" y="3895344"/>
            <a:ext cx="5669280" cy="749808"/>
          </a:xfrm>
          <a:prstGeom prst="rect">
            <a:avLst/>
          </a:prstGeom>
          <a:solidFill>
            <a:srgbClr val="13151F"/>
          </a:solidFill>
          <a:ln/>
        </p:spPr>
      </p:sp>
      <p:sp>
        <p:nvSpPr>
          <p:cNvPr id="21" name="Shape 19"/>
          <p:cNvSpPr/>
          <p:nvPr/>
        </p:nvSpPr>
        <p:spPr>
          <a:xfrm>
            <a:off x="5806440" y="3895344"/>
            <a:ext cx="274320" cy="749808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94106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subscription — access stops when payments stop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94106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 — you own it permanently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700016"/>
            <a:ext cx="5303520" cy="749808"/>
          </a:xfrm>
          <a:prstGeom prst="rect">
            <a:avLst/>
          </a:prstGeom>
          <a:solidFill>
            <a:srgbClr val="161824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4700016"/>
            <a:ext cx="5669280" cy="749808"/>
          </a:xfrm>
          <a:prstGeom prst="rect">
            <a:avLst/>
          </a:prstGeom>
          <a:solidFill>
            <a:srgbClr val="161824"/>
          </a:solidFill>
          <a:ln/>
        </p:spPr>
      </p:sp>
      <p:sp>
        <p:nvSpPr>
          <p:cNvPr id="26" name="Shape 24"/>
          <p:cNvSpPr/>
          <p:nvPr/>
        </p:nvSpPr>
        <p:spPr>
          <a:xfrm>
            <a:off x="5806440" y="4700016"/>
            <a:ext cx="274320" cy="749808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74573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migration required to unlock analytics value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74573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your existing operations without replacing them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5504688"/>
            <a:ext cx="5303520" cy="749808"/>
          </a:xfrm>
          <a:prstGeom prst="rect">
            <a:avLst/>
          </a:prstGeom>
          <a:solidFill>
            <a:srgbClr val="13151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80760" y="5504688"/>
            <a:ext cx="5669280" cy="749808"/>
          </a:xfrm>
          <a:prstGeom prst="rect">
            <a:avLst/>
          </a:prstGeom>
          <a:solidFill>
            <a:srgbClr val="13151F"/>
          </a:solidFill>
          <a:ln/>
        </p:spPr>
      </p:sp>
      <p:sp>
        <p:nvSpPr>
          <p:cNvPr id="31" name="Shape 29"/>
          <p:cNvSpPr/>
          <p:nvPr/>
        </p:nvSpPr>
        <p:spPr>
          <a:xfrm>
            <a:off x="5806440" y="5504688"/>
            <a:ext cx="274320" cy="749808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555040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retraining across all roles required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555040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NZB trains and exits — team runs it independently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CF0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Philippines F&amp;B technology market — Philippines,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155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Solutions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Competitor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pricing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783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IQ is the only comparable analytics product. If TAQ Franco is fully deployed on Mosaic including Data IQ, the engagement must be reassessed.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24328"/>
            <a:ext cx="11155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15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StoreHub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7157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POS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715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36,000–60,000/yr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7157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reporting and basic inventory within StoreHub only. Does not consolidate payroll, recipe costs, or PL reports from external sources.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557016"/>
            <a:ext cx="11155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484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Simphony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36484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6484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pricing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36484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hotel chains and large F&amp;B groups. Not suited to boutique SME clients.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489704"/>
            <a:ext cx="11155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5811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Utak / KwikPOS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45811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458114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PHP 18,000/yr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45811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BIR-accredited local POS options. Basic functionality. No cross-source consolidation.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5422392"/>
            <a:ext cx="11155680" cy="841248"/>
          </a:xfrm>
          <a:prstGeom prst="rect">
            <a:avLst/>
          </a:prstGeom>
          <a:solidFill>
            <a:srgbClr val="4970FF"/>
          </a:solidFill>
          <a:ln w="12700">
            <a:solidFill>
              <a:srgbClr val="4970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5138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NZB RDIP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5513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55138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815,000 one-time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55138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all 9 data sources. Permanent ownership. No subscription. Built on existing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CF0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Structure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sequential stages. PHP 335,000 entry commitment. Full engagement 38 weeks. 40.75 NZB billable days.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2578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5257800" cy="457200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—  PHP 335,000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54864" cy="457200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20,000 · Credited to total if engagement proceeds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54864" cy="457200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82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115,000 · 3 weeks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54864" cy="457200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Discovery Tier 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822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200,000 · 5 weeks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206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IP remains NZB property until Stage 2 is activated (engagement letter clause required).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1691640"/>
            <a:ext cx="5669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691640"/>
            <a:ext cx="5669280" cy="45720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—  PHP 480,000  ·  24 Billable Days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2286000"/>
            <a:ext cx="54864" cy="45720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2286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Gap Analysis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5420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60,000 · 3 days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2907792"/>
            <a:ext cx="54864" cy="45720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29077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Design, TOM &amp; SOPs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1638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80,000 · 4 days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529584"/>
            <a:ext cx="54864" cy="45720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35295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Service Design &amp; Schema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7856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100,000 · 5 days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151376"/>
            <a:ext cx="54864" cy="45720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0" y="41513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Mod 1: Daily Sales View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4407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100,000 · 5 days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17920" y="4773168"/>
            <a:ext cx="54864" cy="45720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0" y="47731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Mod 2: BOH Intelligence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5029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140,000 · 7 days · 4–6 week calendar window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080760" y="5349240"/>
            <a:ext cx="566928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0" y="53949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BI Operations Support Retainer  ·  PHP 65,000/month  ·  3-month minimum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430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815,000 is a one-time capital investment in a permanent owned intelligence asset — not a recurring service fee.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20440" cy="4389120"/>
          </a:xfrm>
          <a:prstGeom prst="rect">
            <a:avLst/>
          </a:prstGeom>
          <a:solidFill>
            <a:srgbClr val="4970FF"/>
          </a:solidFill>
          <a:ln w="12700">
            <a:solidFill>
              <a:srgbClr val="497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(Opening position)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815,000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74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20,000/day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31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46.9% Net Margin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572000"/>
            <a:ext cx="3063240" cy="41148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572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874520"/>
            <a:ext cx="3520440" cy="4389120"/>
          </a:xfrm>
          <a:prstGeom prst="rect">
            <a:avLst/>
          </a:prstGeom>
          <a:solidFill>
            <a:srgbClr val="1A1D2B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19659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(Floor)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743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656,489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474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13,395/day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3931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36.0% Net Margin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4572000"/>
            <a:ext cx="3063240" cy="411480"/>
          </a:xfrm>
          <a:prstGeom prst="rect">
            <a:avLst/>
          </a:prstGeom>
          <a:solidFill>
            <a:srgbClr val="2A2D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80560" y="4572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— no sign-off required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0" y="1874520"/>
            <a:ext cx="3520440" cy="4389120"/>
          </a:xfrm>
          <a:prstGeom prst="rect">
            <a:avLst/>
          </a:prstGeom>
          <a:solidFill>
            <a:srgbClr val="1A1D2B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19659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floor)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2743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600,000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3474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11,042/day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931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30.7% Net Margin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83880" y="4572000"/>
            <a:ext cx="3063240" cy="411480"/>
          </a:xfrm>
          <a:prstGeom prst="rect">
            <a:avLst/>
          </a:prstGeom>
          <a:solidFill>
            <a:srgbClr val="2A2D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0" y="4572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 — Ninfa sign-off required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577840"/>
            <a:ext cx="11155680" cy="822960"/>
          </a:xfrm>
          <a:prstGeom prst="rect">
            <a:avLst/>
          </a:prstGeom>
          <a:solidFill>
            <a:srgbClr val="16182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56235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815,000 = 16–27% of estimated annual net profit (PHP 3–5M). Entry point: Stage 1 only at PHP 335,000 = 6.7–11.2% of annual net profit. Defensible as capital investment. Not defensible as a recurring fee.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CF0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Own at Close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NZB trains and exits. Your team runs the system independently from day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257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5257800" cy="73152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391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Data System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517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your actual operations. Consolidates all nine data sources. Operational from day one of handover.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1874520"/>
            <a:ext cx="5257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874520"/>
            <a:ext cx="5257800" cy="73152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0391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Operating Framework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6517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data entry protocols, and process guides your team follows without NZB involvement.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5257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023360"/>
            <a:ext cx="5257800" cy="73152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1879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Prioritised Roadmap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8006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next steps for Module 3 (Payroll Driver View) and Module 4 (Consolidated Owner View) when you are ready.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4023360"/>
            <a:ext cx="5257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4023360"/>
            <a:ext cx="5257800" cy="73152"/>
          </a:xfrm>
          <a:prstGeom prst="rect">
            <a:avLst/>
          </a:prstGeom>
          <a:solidFill>
            <a:srgbClr val="00C4B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1879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Ongoing NZB Dependency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8006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NZB exits at handover. No subscription. No vendor lock-in. The system is yours — permanently.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meeting agenda — four categories of information.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155680" cy="7772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— Confirm POS System  ·  This gates the engagement scope and fee structure before any other discussion.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3520440" cy="457200"/>
          </a:xfrm>
          <a:prstGeom prst="rect">
            <a:avLst/>
          </a:prstGeom>
          <a:solidFill>
            <a:srgbClr val="1618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(Samples Only)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Z-report (exact format from Cashier)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payroll software output (HR Staffer format)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completed report from each of the 5 Process Leaders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00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inventory count sheet or template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349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template (food cost — current version)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98932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897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fully populated Monthly Data Dump for a completed month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51960" y="2560320"/>
            <a:ext cx="3520440" cy="457200"/>
          </a:xfrm>
          <a:prstGeom prst="rect">
            <a:avLst/>
          </a:prstGeom>
          <a:solidFill>
            <a:srgbClr val="1618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8912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Context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9120" y="324612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list of Process Leader roles and responsibilities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379476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schedule — days open, seasonal closures, hours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89120" y="434340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0" y="4251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count confirmation (Sales tab shows 32 seats)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0" y="489204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0" y="4800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 hours per month spent consolidating the Data Dump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89120" y="544068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0" y="5349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frequently late Process Leader report and delay duration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89120" y="598932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72000" y="5897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planned menu changes in next 6 months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01000" y="2560320"/>
            <a:ext cx="3520440" cy="457200"/>
          </a:xfrm>
          <a:prstGeom prst="rect">
            <a:avLst/>
          </a:prstGeom>
          <a:solidFill>
            <a:srgbClr val="1618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3816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Access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38160" y="324612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2104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authorisation from Laveena to review all documents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138160" y="379476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321040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documents to contain employee IDs only (no name mapping)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138160" y="434340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321040" y="4251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execution before any data is shared (non-negotiable gate)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138160" y="4892040"/>
            <a:ext cx="91440" cy="9144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321040" y="4800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confirmation of RA 10173 (Data Privacy Act) compliance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C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0"/>
            <a:ext cx="2743200" cy="502920"/>
          </a:xfrm>
          <a:prstGeom prst="rect">
            <a:avLst/>
          </a:prstGeom>
          <a:solidFill>
            <a:srgbClr val="4970F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NZB CONSULTING · CONFIDENTIAL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determines next steps.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POS system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TAQ Franco use?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answer confirms whether the scope, fee, and competitive position hold as presented — or whether they need to be revisited before the due diligence meeting.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4114800" cy="27432"/>
          </a:xfrm>
          <a:prstGeom prst="rect">
            <a:avLst/>
          </a:prstGeom>
          <a:solidFill>
            <a:srgbClr val="A0A4B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NZB Consulting  ·  02 October 2026  ·  Internal Use Only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2026-10-02T10:09:59Z</dcterms:created>
  <dcterms:modified xsi:type="dcterms:W3CDTF">2026-10-02T10:09:59Z</dcterms:modified>
</cp:coreProperties>
</file>